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3600">
                <a:solidFill>
                  <a:srgbClr val="1A487E"/>
                </a:solidFill>
              </a:rPr>
              <a:t>CSUF Scheduler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Master's Project Defense</a:t>
            </a:r>
          </a:p>
          <a:p>
            <a:r>
              <a:t>Development Project</a:t>
            </a:r>
          </a:p>
          <a:p>
            <a:r>
              <a:t>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1A487E"/>
                </a:solidFill>
              </a:rPr>
              <a:t>Problem and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02020"/>
                </a:solidFill>
              </a:defRPr>
            </a:pPr>
            <a:r>
              <a:t>Manual scheduling creates conflicts, inequity, and high admin overhead.</a:t>
            </a:r>
          </a:p>
          <a:p>
            <a:pPr>
              <a:defRPr sz="2000">
                <a:solidFill>
                  <a:srgbClr val="202020"/>
                </a:solidFill>
              </a:defRPr>
            </a:pPr>
            <a:r>
              <a:t>Student-staff operations require transparent, auditable shift management.</a:t>
            </a:r>
          </a:p>
          <a:p>
            <a:pPr>
              <a:defRPr sz="2000">
                <a:solidFill>
                  <a:srgbClr val="202020"/>
                </a:solidFill>
              </a:defRPr>
            </a:pPr>
            <a:r>
              <a:t>Need for web + mobile access with secure role-based controls.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1A487E"/>
                </a:solidFill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02020"/>
                </a:solidFill>
              </a:defRPr>
            </a:pPr>
            <a:r>
              <a:t>Build production-focused scheduling platform for CSUF operations.</a:t>
            </a:r>
          </a:p>
          <a:p>
            <a:pPr>
              <a:defRPr sz="2000">
                <a:solidFill>
                  <a:srgbClr val="202020"/>
                </a:solidFill>
              </a:defRPr>
            </a:pPr>
            <a:r>
              <a:t>Implement role-based workflows: admin, supervisor, student, FTO.</a:t>
            </a:r>
          </a:p>
          <a:p>
            <a:pPr>
              <a:defRPr sz="2000">
                <a:solidFill>
                  <a:srgbClr val="202020"/>
                </a:solidFill>
              </a:defRPr>
            </a:pPr>
            <a:r>
              <a:t>Provide AI-assisted schedule generation with manual oversight.</a:t>
            </a:r>
          </a:p>
          <a:p>
            <a:pPr>
              <a:defRPr sz="2000">
                <a:solidFill>
                  <a:srgbClr val="202020"/>
                </a:solidFill>
              </a:defRPr>
            </a:pPr>
            <a:r>
              <a:t>Deliver measurable quality via testing, linting, and security checks.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1A487E"/>
                </a:solidFill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02020"/>
                </a:solidFill>
              </a:defRPr>
            </a:pPr>
            <a:r>
              <a:t>Backend: Flask + SQLAlchemy + Alembic migration pipeline.</a:t>
            </a:r>
          </a:p>
          <a:p>
            <a:pPr>
              <a:defRPr sz="2000">
                <a:solidFill>
                  <a:srgbClr val="202020"/>
                </a:solidFill>
              </a:defRPr>
            </a:pPr>
            <a:r>
              <a:t>Service layer isolates scheduling logic (OR-Tools engine).</a:t>
            </a:r>
          </a:p>
          <a:p>
            <a:pPr>
              <a:defRPr sz="2000">
                <a:solidFill>
                  <a:srgbClr val="202020"/>
                </a:solidFill>
              </a:defRPr>
            </a:pPr>
            <a:r>
              <a:t>API layer exposes users, shifts, scheduler, reports, conflicts, audit.</a:t>
            </a:r>
          </a:p>
          <a:p>
            <a:pPr>
              <a:defRPr sz="2000">
                <a:solidFill>
                  <a:srgbClr val="202020"/>
                </a:solidFill>
              </a:defRPr>
            </a:pPr>
            <a:r>
              <a:t>Frontend strategy: Flask templates + Vue modernization + React Native mobile MVP.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1A487E"/>
                </a:solidFill>
              </a:rPr>
              <a:t>Data and API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02020"/>
                </a:solidFill>
              </a:defRPr>
            </a:pPr>
            <a:r>
              <a:t>Normalized domain entities: users, shifts, availability, timesheets, audit.</a:t>
            </a:r>
          </a:p>
          <a:p>
            <a:pPr>
              <a:defRPr sz="2000">
                <a:solidFill>
                  <a:srgbClr val="202020"/>
                </a:solidFill>
              </a:defRPr>
            </a:pPr>
            <a:r>
              <a:t>Session-based auth with CSRF protection for mutating requests.</a:t>
            </a:r>
          </a:p>
          <a:p>
            <a:pPr>
              <a:defRPr sz="2000">
                <a:solidFill>
                  <a:srgbClr val="202020"/>
                </a:solidFill>
              </a:defRPr>
            </a:pPr>
            <a:r>
              <a:t>Health endpoint for operational checks: /api/health.</a:t>
            </a:r>
          </a:p>
          <a:p>
            <a:pPr>
              <a:defRPr sz="2000">
                <a:solidFill>
                  <a:srgbClr val="202020"/>
                </a:solidFill>
              </a:defRPr>
            </a:pPr>
            <a:r>
              <a:t>Report exports support JSON and CSV consumption.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1A487E"/>
                </a:solidFill>
              </a:rPr>
              <a:t>Security and 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02020"/>
                </a:solidFill>
              </a:defRPr>
            </a:pPr>
            <a:r>
              <a:t>Session hardening, secure headers, CSRF enforcement, rate limiting.</a:t>
            </a:r>
          </a:p>
          <a:p>
            <a:pPr>
              <a:defRPr sz="2000">
                <a:solidFill>
                  <a:srgbClr val="202020"/>
                </a:solidFill>
              </a:defRPr>
            </a:pPr>
            <a:r>
              <a:t>Pre-commit quality gates: Black, isort, Flake8, Bandit.</a:t>
            </a:r>
          </a:p>
          <a:p>
            <a:pPr>
              <a:defRPr sz="2000">
                <a:solidFill>
                  <a:srgbClr val="202020"/>
                </a:solidFill>
              </a:defRPr>
            </a:pPr>
            <a:r>
              <a:t>Dependency audit process documented with mitigation tracking.</a:t>
            </a:r>
          </a:p>
          <a:p>
            <a:pPr>
              <a:defRPr sz="2000">
                <a:solidFill>
                  <a:srgbClr val="202020"/>
                </a:solidFill>
              </a:defRPr>
            </a:pPr>
            <a:r>
              <a:t>Operational runbooks: deployment, monitoring, incident response, smoke tests.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1A487E"/>
                </a:solidFill>
              </a:rPr>
              <a:t>Implemented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02020"/>
                </a:solidFill>
              </a:defRPr>
            </a:pPr>
            <a:r>
              <a:t>Shift lifecycle: create, assign, auto-assign, swap, delete.</a:t>
            </a:r>
          </a:p>
          <a:p>
            <a:pPr>
              <a:defRPr sz="2000">
                <a:solidFill>
                  <a:srgbClr val="202020"/>
                </a:solidFill>
              </a:defRPr>
            </a:pPr>
            <a:r>
              <a:t>Availability and notifications workflows.</a:t>
            </a:r>
          </a:p>
          <a:p>
            <a:pPr>
              <a:defRPr sz="2000">
                <a:solidFill>
                  <a:srgbClr val="202020"/>
                </a:solidFill>
              </a:defRPr>
            </a:pPr>
            <a:r>
              <a:t>Scheduler endpoints: generate, inspect, apply, cancel schedules.</a:t>
            </a:r>
          </a:p>
          <a:p>
            <a:pPr>
              <a:defRPr sz="2000">
                <a:solidFill>
                  <a:srgbClr val="202020"/>
                </a:solidFill>
              </a:defRPr>
            </a:pPr>
            <a:r>
              <a:t>Reports and conflicts endpoints for weekly planning visibility.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1A487E"/>
                </a:solidFill>
              </a:rPr>
              <a:t>Mobile MVP (Phase 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02020"/>
                </a:solidFill>
              </a:defRPr>
            </a:pPr>
            <a:r>
              <a:t>React Native + Expo app integrated with existing backend APIs.</a:t>
            </a:r>
          </a:p>
          <a:p>
            <a:pPr>
              <a:defRPr sz="2000">
                <a:solidFill>
                  <a:srgbClr val="202020"/>
                </a:solidFill>
              </a:defRPr>
            </a:pPr>
            <a:r>
              <a:t>Screens: Login, Schedule, Swap, Availability, Notifications, Settings.</a:t>
            </a:r>
          </a:p>
          <a:p>
            <a:pPr>
              <a:defRPr sz="2000">
                <a:solidFill>
                  <a:srgbClr val="202020"/>
                </a:solidFill>
              </a:defRPr>
            </a:pPr>
            <a:r>
              <a:t>Preserved backend auth contract (session + CSRF) for consistency.</a:t>
            </a:r>
          </a:p>
          <a:p>
            <a:pPr>
              <a:defRPr sz="2000">
                <a:solidFill>
                  <a:srgbClr val="202020"/>
                </a:solidFill>
              </a:defRPr>
            </a:pPr>
            <a:r>
              <a:t>Validated startup and diagnostics with Expo tooling.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1A487E"/>
                </a:solidFill>
              </a:rPr>
              <a:t>Validation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02020"/>
                </a:solidFill>
              </a:defRPr>
            </a:pPr>
            <a:r>
              <a:t>Health endpoint: healthy, database OK.</a:t>
            </a:r>
          </a:p>
          <a:p>
            <a:pPr>
              <a:defRPr sz="2000">
                <a:solidFill>
                  <a:srgbClr val="202020"/>
                </a:solidFill>
              </a:defRPr>
            </a:pPr>
            <a:r>
              <a:t>Smoke flow: login, fetch users/shifts, create shift, verify created shift.</a:t>
            </a:r>
          </a:p>
          <a:p>
            <a:pPr>
              <a:defRPr sz="2000">
                <a:solidFill>
                  <a:srgbClr val="202020"/>
                </a:solidFill>
              </a:defRPr>
            </a:pPr>
            <a:r>
              <a:t>Automated tests: 64/64 passed.</a:t>
            </a:r>
          </a:p>
          <a:p>
            <a:pPr>
              <a:defRPr sz="2000">
                <a:solidFill>
                  <a:srgbClr val="202020"/>
                </a:solidFill>
              </a:defRPr>
            </a:pPr>
            <a:r>
              <a:t>Expo doctor: 16/16 checks passed; Metro startup validated.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1A487E"/>
                </a:solidFill>
              </a:rPr>
              <a:t>Deployment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02020"/>
                </a:solidFill>
              </a:defRPr>
            </a:pPr>
            <a:r>
              <a:t>Docker compose production baseline prepared.</a:t>
            </a:r>
          </a:p>
          <a:p>
            <a:pPr>
              <a:defRPr sz="2000">
                <a:solidFill>
                  <a:srgbClr val="202020"/>
                </a:solidFill>
              </a:defRPr>
            </a:pPr>
            <a:r>
              <a:t>Environment templates for staging and production included.</a:t>
            </a:r>
          </a:p>
          <a:p>
            <a:pPr>
              <a:defRPr sz="2000">
                <a:solidFill>
                  <a:srgbClr val="202020"/>
                </a:solidFill>
              </a:defRPr>
            </a:pPr>
            <a:r>
              <a:t>CI/CD workflow configured for quality + deployment pipeline.</a:t>
            </a:r>
          </a:p>
          <a:p>
            <a:pPr>
              <a:defRPr sz="2000">
                <a:solidFill>
                  <a:srgbClr val="202020"/>
                </a:solidFill>
              </a:defRPr>
            </a:pPr>
            <a:r>
              <a:t>Documented post-deployment smoke validation checklist.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1A487E"/>
                </a:solidFill>
              </a:rPr>
              <a:t>Key Challenges and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02020"/>
                </a:solidFill>
              </a:defRPr>
            </a:pPr>
            <a:r>
              <a:t>Balanced rapid delivery with production hardening requirements.</a:t>
            </a:r>
          </a:p>
          <a:p>
            <a:pPr>
              <a:defRPr sz="2000">
                <a:solidFill>
                  <a:srgbClr val="202020"/>
                </a:solidFill>
              </a:defRPr>
            </a:pPr>
            <a:r>
              <a:t>Chose session auth over JWT to match current architecture and reduce risk.</a:t>
            </a:r>
          </a:p>
          <a:p>
            <a:pPr>
              <a:defRPr sz="2000">
                <a:solidFill>
                  <a:srgbClr val="202020"/>
                </a:solidFill>
              </a:defRPr>
            </a:pPr>
            <a:r>
              <a:t>Kept frontend modernization incremental to preserve compatibility.</a:t>
            </a:r>
          </a:p>
          <a:p>
            <a:pPr>
              <a:defRPr sz="2000">
                <a:solidFill>
                  <a:srgbClr val="202020"/>
                </a:solidFill>
              </a:defRPr>
            </a:pPr>
            <a:r>
              <a:t>Contained optimization complexity within service layer abstractions.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1A487E"/>
                </a:solidFill>
              </a:rP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02020"/>
                </a:solidFill>
              </a:defRPr>
            </a:pPr>
            <a:r>
              <a:t>Push notifications and deeper mobile-native capabilities.</a:t>
            </a:r>
          </a:p>
          <a:p>
            <a:pPr>
              <a:defRPr sz="2000">
                <a:solidFill>
                  <a:srgbClr val="202020"/>
                </a:solidFill>
              </a:defRPr>
            </a:pPr>
            <a:r>
              <a:t>Expanded accessibility and usability testing.</a:t>
            </a:r>
          </a:p>
          <a:p>
            <a:pPr>
              <a:defRPr sz="2000">
                <a:solidFill>
                  <a:srgbClr val="202020"/>
                </a:solidFill>
              </a:defRPr>
            </a:pPr>
            <a:r>
              <a:t>Advanced observability with tracing and performance dashboards.</a:t>
            </a:r>
          </a:p>
          <a:p>
            <a:pPr>
              <a:defRPr sz="2000">
                <a:solidFill>
                  <a:srgbClr val="202020"/>
                </a:solidFill>
              </a:defRPr>
            </a:pPr>
            <a:r>
              <a:t>Enterprise controls: MFA/SSO and stronger compliance automation.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1A487E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02020"/>
                </a:solidFill>
              </a:defRPr>
            </a:pPr>
            <a:r>
              <a:t>CSUF Scheduler achieved development-project objectives.</a:t>
            </a:r>
          </a:p>
          <a:p>
            <a:pPr>
              <a:defRPr sz="2000">
                <a:solidFill>
                  <a:srgbClr val="202020"/>
                </a:solidFill>
              </a:defRPr>
            </a:pPr>
            <a:r>
              <a:t>System is validated, documented, and operationally ready for controlled deployment.</a:t>
            </a:r>
          </a:p>
          <a:p>
            <a:pPr>
              <a:defRPr sz="2000">
                <a:solidFill>
                  <a:srgbClr val="202020"/>
                </a:solidFill>
              </a:defRPr>
            </a:pPr>
            <a:r>
              <a:t>Architecture supports continued scaling and feature expansion.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1A487E"/>
                </a:solidFill>
              </a:rP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02020"/>
                </a:solidFill>
              </a:defRPr>
            </a:pPr>
            <a:r>
              <a:t>Thank you.</a:t>
            </a:r>
          </a:p>
          <a:p>
            <a:pPr>
              <a:defRPr sz="2000">
                <a:solidFill>
                  <a:srgbClr val="202020"/>
                </a:solidFill>
              </a:defRPr>
            </a:pPr>
            <a:r>
              <a:t>I welcome questions on architecture, validation, or deployment strategy.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